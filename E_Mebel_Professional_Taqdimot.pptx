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371600"/>
            <a:ext cx="5163349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6400">
                <a:solidFill>
                  <a:srgbClr val="F8FAFC"/>
                </a:solidFill>
                <a:latin typeface="Segoe UI"/>
              </a:defRPr>
            </a:pPr>
            <a:r>
              <a:t>E-Mebel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3B82F6"/>
                </a:solidFill>
                <a:latin typeface="Segoe UI"/>
              </a:defRPr>
            </a:pPr>
            <a:r>
              <a:t>Mebel ishlab chiqarishni avtomatlashtirish va biznes boshqaruvi platformasi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4400">
                <a:solidFill>
                  <a:srgbClr val="F8FAFC"/>
                </a:solidFill>
                <a:latin typeface="Segoe UI"/>
              </a:defRPr>
            </a:pPr>
            <a:r>
              <a:t>Muammo va Yechim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48463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3B82F6"/>
                </a:solidFill>
                <a:latin typeface="Segoe UI"/>
              </a:defRPr>
            </a:pPr>
            <a:r>
              <a:t>Eski Tizim Muammolari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defRPr sz="1800">
                <a:solidFill>
                  <a:srgbClr val="94A3B8"/>
                </a:solidFill>
                <a:latin typeface="Segoe UI"/>
              </a:defRPr>
            </a:pPr>
            <a:r>
              <a:t>• Qog'ozbozlik va xatoliklar</a:t>
            </a:r>
            <a:br/>
            <a:r>
              <a:t>• Ombor hisobi aniq emasligi</a:t>
            </a:r>
            <a:br/>
            <a:r>
              <a:t>• Mijozlar narx-navo va qarzlaridan bexabarligi</a:t>
            </a:r>
            <a:br/>
            <a:r>
              <a:t>• Buyurtmalar holati haqida tasavvur yo'qligi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48463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3B82F6"/>
                </a:solidFill>
                <a:latin typeface="Segoe UI"/>
              </a:defRPr>
            </a:pPr>
            <a:r>
              <a:t>E-Mebel Yechimi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defRPr sz="1800">
                <a:solidFill>
                  <a:srgbClr val="94A3B8"/>
                </a:solidFill>
                <a:latin typeface="Segoe UI"/>
              </a:defRPr>
            </a:pPr>
            <a:r>
              <a:t>• Barcha jarayonlarni raqamlashtirish</a:t>
            </a:r>
            <a:br/>
            <a:r>
              <a:t>• Xodimlar o'rtasida shaffof ruxsat (RBAC)</a:t>
            </a:r>
            <a:br/>
            <a:r>
              <a:t>• Mijozlar uchun doimiy ochiq portal</a:t>
            </a:r>
            <a:br/>
            <a:r>
              <a:t>• Kassa, Ombor va Menejment bir joyda</a:t>
            </a:r>
          </a:p>
        </p:txBody>
      </p:sp>
      <p:pic>
        <p:nvPicPr>
          <p:cNvPr id="9" name="Picture 8" descr="logo_yozu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5486400"/>
            <a:ext cx="121774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4400">
                <a:solidFill>
                  <a:srgbClr val="F8FAFC"/>
                </a:solidFill>
                <a:latin typeface="Segoe UI"/>
              </a:defRPr>
            </a:pPr>
            <a:r>
              <a:t>Tizimning Asosiy Modullari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8463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3B82F6"/>
                </a:solidFill>
                <a:latin typeface="Segoe UI"/>
              </a:defRPr>
            </a:pPr>
            <a:r>
              <a:t>1. Analitika (Dashboard)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defRPr sz="1800">
                <a:solidFill>
                  <a:srgbClr val="94A3B8"/>
                </a:solidFill>
                <a:latin typeface="Segoe UI"/>
              </a:defRPr>
            </a:pPr>
            <a:r>
              <a:t>Boshqaruv uchun real-vaqt rejimida barcha kirm-chiqimlar, qarzlar va sotuvlar grafik bilan tasvirlanadigan bosh oyna.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48463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3B82F6"/>
                </a:solidFill>
                <a:latin typeface="Segoe UI"/>
              </a:defRPr>
            </a:pPr>
            <a:r>
              <a:t>2. Buyurtmalar Tizimi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defRPr sz="1800">
                <a:solidFill>
                  <a:srgbClr val="94A3B8"/>
                </a:solidFill>
                <a:latin typeface="Segoe UI"/>
              </a:defRPr>
            </a:pPr>
            <a:r>
              <a:t>Buyurtmalarni qo'shish, statuslarini (Yangi, Ishlab chiqarilmoqda, Tayyor) o'zgartirish va 1-klik orqali PDF Shartnoma generatsiya qilish.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8463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3B82F6"/>
                </a:solidFill>
                <a:latin typeface="Segoe UI"/>
              </a:defRPr>
            </a:pPr>
            <a:r>
              <a:t>3. Ombor va Ta'minot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defRPr sz="1800">
                <a:solidFill>
                  <a:srgbClr val="94A3B8"/>
                </a:solidFill>
                <a:latin typeface="Segoe UI"/>
              </a:defRPr>
            </a:pPr>
            <a:r>
              <a:t>Yog'och, LDP va boshqa xomashyolarning qoldig'ini raqamli ko'rish hamda tayyor mebel qismlarini saqlash imkoniyati.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114800"/>
            <a:ext cx="48463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3B82F6"/>
                </a:solidFill>
                <a:latin typeface="Segoe UI"/>
              </a:defRPr>
            </a:pPr>
            <a:r>
              <a:t>4. Moliya va Mijozlar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defRPr sz="1800">
                <a:solidFill>
                  <a:srgbClr val="94A3B8"/>
                </a:solidFill>
                <a:latin typeface="Segoe UI"/>
              </a:defRPr>
            </a:pPr>
            <a:r>
              <a:t>Kassir uchun daromad, xarajatlar ro'yxati, mijozlarning qarzdorlik holati va ularning to'lovlarini nazorat qilish paneli.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4400">
                <a:solidFill>
                  <a:srgbClr val="F8FAFC"/>
                </a:solidFill>
                <a:latin typeface="Segoe UI"/>
              </a:defRPr>
            </a:pPr>
            <a:r>
              <a:t>Mijozlarga Qulayliklar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60152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94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3B82F6"/>
                </a:solidFill>
                <a:latin typeface="Segoe UI"/>
              </a:defRPr>
            </a:pPr>
            <a:r>
              <a:t>Mijozlar Portali va Telegram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9943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defRPr sz="1800">
                <a:solidFill>
                  <a:srgbClr val="94A3B8"/>
                </a:solidFill>
                <a:latin typeface="Segoe UI"/>
              </a:defRPr>
            </a:pPr>
            <a:r>
              <a:t>Mijozlar biznes bilan qanday muloqot qiladi?</a:t>
            </a:r>
            <a:br/>
            <a:br/>
            <a:r>
              <a:t>• O'zining shaxsiy portali orqali (Login va Parol bilan) tizimga doimiy kira oladi.</a:t>
            </a:r>
            <a:br/>
            <a:r>
              <a:t>• Sotib olingan barcha mahsulotlar hamda rasmiy PDF shartnomalar tarixini ko'radi.</a:t>
            </a:r>
            <a:br/>
            <a:r>
              <a:t>• Do'konga kelmagan holda o'z hisobiga pul to'lashlari va qolib ketgan qarzlari kvitansiyasini tekshira olishadi.</a:t>
            </a:r>
            <a:br/>
            <a:r>
              <a:t>• Telegram Bot - mijozlarga avtomatik ravishda "Sizning buyurtmangiz tayyor bo'ldi" kabi bildirishnomalar yuborib turadi. Bu mijoz sodiqligini bir necha baravar oshiradi.</a:t>
            </a:r>
          </a:p>
        </p:txBody>
      </p:sp>
      <p:pic>
        <p:nvPicPr>
          <p:cNvPr id="6" name="Picture 5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57200"/>
            <a:ext cx="906734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yozu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371600"/>
            <a:ext cx="2283262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800">
                <a:solidFill>
                  <a:srgbClr val="3B82F6"/>
                </a:solidFill>
                <a:latin typeface="Segoe UI"/>
              </a:defRPr>
            </a:pPr>
            <a:r>
              <a:t>Hamkorlik va E'tiboringiz uchun 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